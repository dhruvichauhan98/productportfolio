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28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i Chauhan" userId="59cb83cbcb583fc4" providerId="LiveId" clId="{F5A3EDAC-2B62-41E1-9453-EA1A116F948D}"/>
    <pc:docChg chg="modSld">
      <pc:chgData name="Dhruvi Chauhan" userId="59cb83cbcb583fc4" providerId="LiveId" clId="{F5A3EDAC-2B62-41E1-9453-EA1A116F948D}" dt="2026-07-14T07:43:12.767" v="28" actId="20577"/>
      <pc:docMkLst>
        <pc:docMk/>
      </pc:docMkLst>
      <pc:sldChg chg="modSp mod">
        <pc:chgData name="Dhruvi Chauhan" userId="59cb83cbcb583fc4" providerId="LiveId" clId="{F5A3EDAC-2B62-41E1-9453-EA1A116F948D}" dt="2026-07-14T07:43:12.767" v="28" actId="20577"/>
        <pc:sldMkLst>
          <pc:docMk/>
          <pc:sldMk cId="0" sldId="267"/>
        </pc:sldMkLst>
        <pc:spChg chg="mod">
          <ac:chgData name="Dhruvi Chauhan" userId="59cb83cbcb583fc4" providerId="LiveId" clId="{F5A3EDAC-2B62-41E1-9453-EA1A116F948D}" dt="2026-07-14T07:43:12.767" v="28" actId="20577"/>
          <ac:spMkLst>
            <pc:docMk/>
            <pc:sldMk cId="0" sldId="267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804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377440"/>
            <a:ext cx="6400800" cy="6400800"/>
          </a:xfrm>
          <a:prstGeom prst="ellipse">
            <a:avLst/>
          </a:prstGeom>
          <a:solidFill>
            <a:srgbClr val="F3EEFD"/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5120640"/>
            <a:ext cx="3840480" cy="3840480"/>
          </a:xfrm>
          <a:prstGeom prst="ellipse">
            <a:avLst/>
          </a:prstGeom>
          <a:solidFill>
            <a:srgbClr val="F3EEF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  ·  PAYMENTS &amp; POST-ORDER EXPERIENCE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JioMart Refund Engine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Root-causing refund bottlenecks and redesigning the post-order workflow.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Dhruvi Chauhan — Senior Product Manager   ·   Program Manager, Fynd (Shopsense Retail Technologies) × JioMart   ·   Jul – Nov 2021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366760" y="685800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  <a:effectLst>
            <a:outerShdw blurRad="127000" dist="25400" dir="5400000" algn="bl" rotWithShape="0">
              <a:srgbClr val="8B7CB6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0" y="850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REFUNDS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95360" y="1819656"/>
            <a:ext cx="2743200" cy="0"/>
          </a:xfrm>
          <a:prstGeom prst="line">
            <a:avLst/>
          </a:prstGeom>
          <a:noFill/>
          <a:ln w="12700">
            <a:solidFill>
              <a:srgbClr val="EDE6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252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#4821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149840" y="127101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E8A5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149840" y="1271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95360" y="2478024"/>
            <a:ext cx="2743200" cy="0"/>
          </a:xfrm>
          <a:prstGeom prst="line">
            <a:avLst/>
          </a:prstGeom>
          <a:noFill/>
          <a:ln w="12700">
            <a:solidFill>
              <a:srgbClr val="EDE6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9110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#4798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149840" y="192938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49840" y="19293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3136392"/>
            <a:ext cx="2743200" cy="0"/>
          </a:xfrm>
          <a:prstGeom prst="line">
            <a:avLst/>
          </a:prstGeom>
          <a:noFill/>
          <a:ln w="12700">
            <a:solidFill>
              <a:srgbClr val="EDE6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569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#4774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149840" y="258775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B45146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0" y="2587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EEFD"/>
          </a:solidFill>
          <a:ln/>
          <a:effectLst>
            <a:outerShdw blurRad="101600" dist="25400" dir="5400000" algn="bl" rotWithShape="0">
              <a:srgbClr val="8B7CB6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" y="4142232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04672" y="4846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refunds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10712" y="39776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EEFD"/>
          </a:solidFill>
          <a:ln/>
          <a:effectLst>
            <a:outerShdw blurRad="101600" dist="25400" dir="5400000" algn="bl" rotWithShape="0">
              <a:srgbClr val="8B7CB6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75304" y="4142232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3575304" y="4846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effort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81344" y="39776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EEFD"/>
          </a:solidFill>
          <a:ln/>
          <a:effectLst>
            <a:outerShdw blurRad="101600" dist="25400" dir="5400000" algn="bl" rotWithShape="0">
              <a:srgbClr val="8B7CB6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45936" y="4142232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6345936" y="4846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support tickets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51976" y="39776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EEFD"/>
          </a:solidFill>
          <a:ln/>
          <a:effectLst>
            <a:outerShdw blurRad="101600" dist="25400" dir="5400000" algn="bl" rotWithShape="0">
              <a:srgbClr val="8B7CB6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16568" y="4142232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1M+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9116568" y="4846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impacted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REFUND ENGINE  ·  PRODUCT CASE STUDY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JioMart's payment ecosystem was straining under fragmented, manual refund operations.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3EE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Turnaround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routed through fragmented, gateway-specific logic took too long to reach customers, eroding trust.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3EEFD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377440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Manual Effort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3749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teams manually verified, tracked, and approved refund cases with no central system or visibility.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3EE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2377440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7532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Rising Support Load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75320" y="3749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and order-mismatch queries became a disproportionate share of customer support volume.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REFUND ENGINE  ·  PRODUCT CASE STUDY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377440"/>
            <a:ext cx="6400800" cy="6400800"/>
          </a:xfrm>
          <a:prstGeom prst="ellipse">
            <a:avLst/>
          </a:prstGeom>
          <a:solidFill>
            <a:srgbClr val="F3EEFD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approached 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8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led the end-to-end development of the Refund Engine, partnering across engineering, payments, and operations to redesign how refunds 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5B2FA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57860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10896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657600"/>
            <a:ext cx="22037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D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refund journeys across gateways to pinpoint where time and effort were lost.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08960" y="3611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7560" y="23774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5B2FA6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257860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38728" y="310896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38728" y="3657600"/>
            <a:ext cx="22037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D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Weighed build-vs-buy and designed a unified, multi-gateway Refund Engine over fragmented, gateway-specific logic.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97880" y="3611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23774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5B2FA6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257860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27648" y="310896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Execution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27648" y="3657600"/>
            <a:ext cx="22037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D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Drove cross-functional delivery with engineering, payments, and ops through Agile sprints to redesign workflows end to end.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0" y="3611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915400" y="23774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5B2F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16568" y="257860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16568" y="310896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Impact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16568" y="3657600"/>
            <a:ext cx="22037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D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turnaround time, manual effort, and support volume as guardrail metrics to validate outcomes.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DEMONSTRATED:  Execution  ·  Build-vs-buy judgement  ·  Agile process  ·  Problem-solving  ·  Guardrail metrics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REFUND ENGINE  ·  PRODUCT CASE STUDY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root causes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Digging into the refund journey surfaced four distinct, fixable causes — each became a workstream toward faster, more accurate refunds.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3EEF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80720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in the Post-Order State Diagram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3192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transitions let orders drift into states with no clear next action.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3EEF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280720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 into Unusual Approvals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33192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approvals went unnoticed, and every case was actioned one by one.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3EEF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89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7240" y="486460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Without a Generated Order ID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3766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orders left no system record, forcing refunds entirely outside the standard flow.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42062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3EEF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389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486460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or Short Shipments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53766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like “10 ordered, 9 received” relied entirely on ad hoc, manual verification.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REFUND ENGINE  ·  PRODUCT CASE STUDY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affected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groups touch the refund journey, each with a distinct role in the redesign.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2514600"/>
            <a:ext cx="640080" cy="640080"/>
          </a:xfrm>
          <a:prstGeom prst="ellipse">
            <a:avLst/>
          </a:prstGeom>
          <a:solidFill>
            <a:srgbClr val="F3EEFD"/>
          </a:solidFill>
          <a:ln/>
        </p:spPr>
      </p:sp>
      <p:sp>
        <p:nvSpPr>
          <p:cNvPr id="7" name="Text 5"/>
          <p:cNvSpPr/>
          <p:nvPr/>
        </p:nvSpPr>
        <p:spPr>
          <a:xfrm>
            <a:off x="15316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32918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/ Buyer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38862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the claim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2252" y="2514600"/>
            <a:ext cx="640080" cy="640080"/>
          </a:xfrm>
          <a:prstGeom prst="ellipse">
            <a:avLst/>
          </a:prstGeom>
          <a:solidFill>
            <a:srgbClr val="F3EEFD"/>
          </a:solidFill>
          <a:ln/>
        </p:spPr>
      </p:sp>
      <p:sp>
        <p:nvSpPr>
          <p:cNvPr id="12" name="Text 10"/>
          <p:cNvSpPr/>
          <p:nvPr/>
        </p:nvSpPr>
        <p:spPr>
          <a:xfrm>
            <a:off x="4302252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83864" y="32918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Ops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83864" y="38862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shipment, approves claims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9904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72884" y="2514600"/>
            <a:ext cx="640080" cy="640080"/>
          </a:xfrm>
          <a:prstGeom prst="ellipse">
            <a:avLst/>
          </a:prstGeom>
          <a:solidFill>
            <a:srgbClr val="F3EEFD"/>
          </a:solidFill>
          <a:ln/>
        </p:spPr>
      </p:sp>
      <p:sp>
        <p:nvSpPr>
          <p:cNvPr id="17" name="Text 15"/>
          <p:cNvSpPr/>
          <p:nvPr/>
        </p:nvSpPr>
        <p:spPr>
          <a:xfrm>
            <a:off x="7072884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54496" y="32918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/ Ops Team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54496" y="38862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exceptions, bulk approvals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0536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43516" y="2514600"/>
            <a:ext cx="640080" cy="640080"/>
          </a:xfrm>
          <a:prstGeom prst="ellipse">
            <a:avLst/>
          </a:prstGeom>
          <a:solidFill>
            <a:srgbClr val="F3EEFD"/>
          </a:solidFill>
          <a:ln/>
        </p:spPr>
      </p:sp>
      <p:sp>
        <p:nvSpPr>
          <p:cNvPr id="22" name="Text 20"/>
          <p:cNvSpPr/>
          <p:nvPr/>
        </p:nvSpPr>
        <p:spPr>
          <a:xfrm>
            <a:off x="9843516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25128" y="32918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/ Finance Approver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25128" y="38862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refund approval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REFUND ENGINE  ·  PRODUCT CASE STUDY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the order state diagram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the gaps in the post-order lifecycle so every order has a clear, defined next state.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BF7FF"/>
          </a:solidFill>
          <a:ln w="12700">
            <a:solidFill>
              <a:srgbClr val="EDE6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50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4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395728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F3EEFD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39572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01568" y="23957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2395728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F3EEFD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39572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30368" y="23957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0" y="2395728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F3EEFD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239572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59168" y="23957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2395728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F3EEFD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239572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87968" y="23957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0" y="2395728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/>
        </p:spPr>
      </p:sp>
      <p:sp>
        <p:nvSpPr>
          <p:cNvPr id="20" name="Text 18"/>
          <p:cNvSpPr/>
          <p:nvPr/>
        </p:nvSpPr>
        <p:spPr>
          <a:xfrm>
            <a:off x="9189720" y="239572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4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Req.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30632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4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defined next state after “Delivered” for refund-eligible orders — requests stalled.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AF8"/>
          </a:solidFill>
          <a:ln w="12700">
            <a:solidFill>
              <a:srgbClr val="D9EF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087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0" y="4087368"/>
            <a:ext cx="1353312" cy="548640"/>
          </a:xfrm>
          <a:prstGeom prst="roundRect">
            <a:avLst>
              <a:gd name="adj" fmla="val 10000"/>
            </a:avLst>
          </a:prstGeom>
          <a:solidFill>
            <a:srgbClr val="F3EEFD"/>
          </a:solidFill>
          <a:ln/>
        </p:spPr>
      </p:sp>
      <p:sp>
        <p:nvSpPr>
          <p:cNvPr id="25" name="Text 23"/>
          <p:cNvSpPr/>
          <p:nvPr/>
        </p:nvSpPr>
        <p:spPr>
          <a:xfrm>
            <a:off x="1856232" y="408736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82112" y="408736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64992" y="4087368"/>
            <a:ext cx="1353312" cy="548640"/>
          </a:xfrm>
          <a:prstGeom prst="roundRect">
            <a:avLst>
              <a:gd name="adj" fmla="val 10000"/>
            </a:avLst>
          </a:prstGeom>
          <a:solidFill>
            <a:srgbClr val="F3EEFD"/>
          </a:solidFill>
          <a:ln/>
        </p:spPr>
      </p:sp>
      <p:sp>
        <p:nvSpPr>
          <p:cNvPr id="28" name="Text 26"/>
          <p:cNvSpPr/>
          <p:nvPr/>
        </p:nvSpPr>
        <p:spPr>
          <a:xfrm>
            <a:off x="3392424" y="408736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18304" y="408736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01184" y="4087368"/>
            <a:ext cx="1353312" cy="548640"/>
          </a:xfrm>
          <a:prstGeom prst="roundRect">
            <a:avLst>
              <a:gd name="adj" fmla="val 10000"/>
            </a:avLst>
          </a:prstGeom>
          <a:solidFill>
            <a:srgbClr val="F3EEFD"/>
          </a:solidFill>
          <a:ln/>
        </p:spPr>
      </p:sp>
      <p:sp>
        <p:nvSpPr>
          <p:cNvPr id="31" name="Text 29"/>
          <p:cNvSpPr/>
          <p:nvPr/>
        </p:nvSpPr>
        <p:spPr>
          <a:xfrm>
            <a:off x="4928616" y="408736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54496" y="408736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37376" y="4087368"/>
            <a:ext cx="1353312" cy="548640"/>
          </a:xfrm>
          <a:prstGeom prst="roundRect">
            <a:avLst>
              <a:gd name="adj" fmla="val 10000"/>
            </a:avLst>
          </a:prstGeom>
          <a:solidFill>
            <a:srgbClr val="F3EEFD"/>
          </a:solidFill>
          <a:ln/>
        </p:spPr>
      </p:sp>
      <p:sp>
        <p:nvSpPr>
          <p:cNvPr id="34" name="Text 32"/>
          <p:cNvSpPr/>
          <p:nvPr/>
        </p:nvSpPr>
        <p:spPr>
          <a:xfrm>
            <a:off x="6464808" y="408736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90688" y="408736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973568" y="4087368"/>
            <a:ext cx="1353312" cy="548640"/>
          </a:xfrm>
          <a:prstGeom prst="roundRect">
            <a:avLst>
              <a:gd name="adj" fmla="val 10000"/>
            </a:avLst>
          </a:prstGeom>
          <a:solidFill>
            <a:srgbClr val="F3EEFD"/>
          </a:solidFill>
          <a:ln/>
        </p:spPr>
      </p:sp>
      <p:sp>
        <p:nvSpPr>
          <p:cNvPr id="37" name="Text 35"/>
          <p:cNvSpPr/>
          <p:nvPr/>
        </p:nvSpPr>
        <p:spPr>
          <a:xfrm>
            <a:off x="8001000" y="408736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Req.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326880" y="408736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509760" y="4087368"/>
            <a:ext cx="1353312" cy="548640"/>
          </a:xfrm>
          <a:prstGeom prst="roundRect">
            <a:avLst>
              <a:gd name="adj" fmla="val 10000"/>
            </a:avLst>
          </a:prstGeom>
          <a:solidFill>
            <a:srgbClr val="DFF3EA"/>
          </a:solidFill>
          <a:ln/>
        </p:spPr>
      </p:sp>
      <p:sp>
        <p:nvSpPr>
          <p:cNvPr id="40" name="Text 38"/>
          <p:cNvSpPr/>
          <p:nvPr/>
        </p:nvSpPr>
        <p:spPr>
          <a:xfrm>
            <a:off x="9537192" y="408736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Proc.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828800" y="47548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now has a complete, mapped path from placement through to refund.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4C1D95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orders getting stuck mid-lifecycle, removing a major source of refund delay.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REFUND ENGINE  ·  PRODUCT CASE STUDY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dashboard &amp; bulk actions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ops real-time visibility into anomalies, with the ability to act on many cases at once.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  <a:effectLst>
            <a:outerShdw blurRad="127000" dist="25400" dir="5400000" algn="bl" rotWithShape="0">
              <a:srgbClr val="8B7CB6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QUEUE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2316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2316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Movements Flagged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02336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via Bulk Action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4572000" cy="0"/>
          </a:xfrm>
          <a:prstGeom prst="line">
            <a:avLst/>
          </a:prstGeom>
          <a:noFill/>
          <a:ln w="12700">
            <a:solidFill>
              <a:srgbClr val="EDE6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flags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4526280"/>
            <a:ext cx="4572000" cy="329184"/>
          </a:xfrm>
          <a:prstGeom prst="roundRect">
            <a:avLst>
              <a:gd name="adj" fmla="val 13889"/>
            </a:avLst>
          </a:prstGeom>
          <a:solidFill>
            <a:srgbClr val="F3EEFD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5262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#8821 — approval outside SLA window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4946904"/>
            <a:ext cx="4572000" cy="329184"/>
          </a:xfrm>
          <a:prstGeom prst="roundRect">
            <a:avLst>
              <a:gd name="adj" fmla="val 13889"/>
            </a:avLst>
          </a:prstGeom>
          <a:solidFill>
            <a:srgbClr val="F3EEFD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94690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#8790 — bulk-cleared, flagged for audit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960" y="521208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4C1D9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Selected (Bulk)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148840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21214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Unusual State-Movement Tracking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2606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anomalous approval movements in real time, instead of relying on manual review.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35040" y="3703320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36758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Approvals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75120" y="4160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ops clear large batches of valid, low-risk cases at once instead of approving one by one.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REFUND ENGINE  ·  PRODUCT CASE STUDY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exception handling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ad hoc handling with dedicated, trackable flows for the two hardest edge cases.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3EEF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500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Order ID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82549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reports the issue in-app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4290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claim questionnaire completed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087368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403250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verifies and approves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690872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90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46360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sign-off, then refund issued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1488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3EEFD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3500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/ Short Shipment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6520" y="2880360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282549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uploads photo evidence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3483864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34290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form captures order &amp; payment details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4087368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3720" y="403250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logged in a dedicated tracked queue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46520" y="4690872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690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3720" y="46360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processed on approval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4C1D95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6235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flows feed the same Bulk Approval Portal, so cases sourced manually can still be fast-tracked at scale.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REFUND ENGINE  ·  PRODUCT CASE STUDY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Bottleneck → Solution → Outcome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consolidated view of what was broken, what was built, and what changed.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77640" y="2148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IMPLEMENTED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3816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3EEF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24328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post-order state diagram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60520" y="2624328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the state diagram with complete, defined transitions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321040" y="2624328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no longer get stuck mid-lifecycle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DE6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11880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unusual approvals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60520" y="361188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anomaly tracking + bulk approval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1040" y="3611880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auditable approvals at scale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3EEF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99432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no generated Order ID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60520" y="4599432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capture form + separately tracked queue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21040" y="4599432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refunds processed reliably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586984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DE6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586984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short shipments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60520" y="5586984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claims flow + Bulk Approval Portal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21040" y="5586984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fast-tracked resolution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REFUND ENGINE  ·  PRODUCT CASE STUDY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377440"/>
            <a:ext cx="6400800" cy="6400800"/>
          </a:xfrm>
          <a:prstGeom prst="ellipse">
            <a:avLst/>
          </a:prstGeom>
          <a:solidFill>
            <a:srgbClr val="F3EEFD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gains across speed, efficiency, and experience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5B2F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299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D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refund turnaround time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5B2FA6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0299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26280" y="2880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D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processing effort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5B2FA6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0299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75320" y="2880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D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payment-related support tickets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5B2FA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05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377440" y="4160520"/>
            <a:ext cx="9052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4D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customers with an improved post-purchase experience — the scale this redesign had to hold up at.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Program Manager at Fynd (Shopsense Retail Technologies) for JioMart's payments ecosystem, Jul–Nov 2021 — driven by fixing the order-state diagram, adding approval visibility, structuring exception handling, and integrating multiple payment gateways through Agile delivery.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REFUND ENGINE  ·  PRODUCT CASE STUDY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undermine these fixes — and how the design accounts for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500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4514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860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Fatigue on the Dashboard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tuned thresholds could bury real issues in noise — mitigated with ongoing calibration.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3500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45146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2860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Rubber-Stamping in Bulk Approvals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0" y="280720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shouldn't cost rigor — paired with sampling-based audits on bulk-cleared cases.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4074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45146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3434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Gaming Image-Based Claims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" y="486460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evidence alone can be manipulated — mitigated by requiring independent warehouse verification.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42062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44074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45146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43434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in the No-Order-ID Queue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0" y="486460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separately tracked queue can itself bottleneck without clear SLAs and ownership.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REFUND ENGINE  ·  PRODUCT CASE STUDY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943600" cy="5943600"/>
          </a:xfrm>
          <a:prstGeom prst="ellipse">
            <a:avLst/>
          </a:prstGeom>
          <a:solidFill>
            <a:srgbClr val="F3EEF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206240" cy="4206240"/>
          </a:xfrm>
          <a:prstGeom prst="ellipse">
            <a:avLst/>
          </a:prstGeom>
          <a:solidFill>
            <a:srgbClr val="5B2FA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REFUND ENGINE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606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Dhruvi Chauhan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</a:t>
            </a: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Manager, Fynd (Shopsense Retail Technologies) × JioMart, Jul – Nov 2021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D8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REFUND ENGINE  ·  PRODUCT CASE STUDY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8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1155</Words>
  <Application>Microsoft Office PowerPoint</Application>
  <PresentationFormat>Widescreen</PresentationFormat>
  <Paragraphs>229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Dhruvi Chauhan</cp:lastModifiedBy>
  <cp:revision>1</cp:revision>
  <dcterms:created xsi:type="dcterms:W3CDTF">2026-07-14T07:40:54Z</dcterms:created>
  <dcterms:modified xsi:type="dcterms:W3CDTF">2026-07-14T07:43:14Z</dcterms:modified>
</cp:coreProperties>
</file>