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03120"/>
            <a:ext cx="5852160" cy="5852160"/>
          </a:xfrm>
          <a:prstGeom prst="ellipse">
            <a:avLst/>
          </a:prstGeom>
          <a:solidFill>
            <a:srgbClr val="10203D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480560"/>
            <a:ext cx="4754880" cy="4754880"/>
          </a:xfrm>
          <a:prstGeom prst="ellipse">
            <a:avLst/>
          </a:prstGeom>
          <a:solidFill>
            <a:srgbClr val="17294A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5074920"/>
            <a:ext cx="1188720" cy="118872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512064" cy="512064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6" name="Image 0" descr="images/icon_Fa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62581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MANAGEMENT PORTFOLIO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Rewards &amp; Engagement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48640" y="32461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Banking Correspondent customers from assisted, in-store transactions to self-service on the Saathi App — without losing the retailer.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44348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6908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PayNearby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51960" y="44348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51960" y="46908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— Loyalty, Retention &amp; Growth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55280" y="44348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TIMELINE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955280" y="46908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 – Q1 2026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5349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56052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CRM, Engineering &amp; Design (cross-functional)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251960" y="5349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DOMAIN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251960" y="56052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— Banking Correspondent (BC) Network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55280" y="5349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955280" y="56052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assisted BC transactions to self-service, without losing retailer engagement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295" y="-868680"/>
            <a:ext cx="1920240" cy="1920240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 — WHAT CHANGED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assisted transactions to self-service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257800" cy="2880360"/>
          </a:xfrm>
          <a:prstGeom prst="roundRect">
            <a:avLst>
              <a:gd name="adj" fmla="val 3810"/>
            </a:avLst>
          </a:prstGeom>
          <a:solidFill>
            <a:srgbClr val="EDEFF4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6B7690"/>
          </a:solidFill>
          <a:ln/>
        </p:spPr>
      </p:sp>
      <p:pic>
        <p:nvPicPr>
          <p:cNvPr id="7" name="Image 0" descr="images/icon_Fa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9316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56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50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OLD MODULE — PAYNEARBY APP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37744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facilitates the transaction in-store, on the customer’s behalf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walks in; the retailer operates the app or device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earns a commission for doing the transaction himself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1600200"/>
            <a:ext cx="5257800" cy="2880360"/>
          </a:xfrm>
          <a:prstGeom prst="roundRect">
            <a:avLst>
              <a:gd name="adj" fmla="val 3810"/>
            </a:avLst>
          </a:prstGeom>
          <a:solidFill>
            <a:srgbClr val="0A1628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1828800"/>
            <a:ext cx="457200" cy="457200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12" name="Image 1" descr="images/icon_FaMobile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790" y="193167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12280" y="1856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MODULE — SAATHI APP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263640" y="237744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transacts directly, on their own, on the Saathi App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Retailer’s role shifts to promoting and activating the customer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still earns commission — passively, for enabling it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7091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AF7EF"/>
          </a:solidFill>
          <a:ln w="12700">
            <a:solidFill>
              <a:srgbClr val="22C56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THIS SHIFT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22960" y="513892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become self-sufficient instead of queuing at the counter. The retailer’s job becomes promotion and activation — not manual operation — which cuts his store setup and operating cost, and frees him to activate many customers instead of serving one at a time.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295" y="-868680"/>
            <a:ext cx="1920240" cy="1920240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problems hiding behind one launch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2578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19656"/>
            <a:ext cx="438912" cy="438912"/>
          </a:xfrm>
          <a:prstGeom prst="ellipse">
            <a:avLst/>
          </a:prstGeom>
          <a:solidFill>
            <a:srgbClr val="E5544D"/>
          </a:solidFill>
          <a:ln/>
        </p:spPr>
      </p:sp>
      <p:pic>
        <p:nvPicPr>
          <p:cNvPr id="7" name="Image 0" descr="images/icon_FaExclamation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" y="1918411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80136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The customer wasn’t changing habit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 self-service transactions — customers tried it once and stopped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activations kept growing, but DAU/MAU kept dropping underneath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customers were still transacting in-store, through the retailer, on PayNearby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directly — retailer interviews and a survey both backed the pattern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1600200"/>
            <a:ext cx="52578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1819656"/>
            <a:ext cx="438912" cy="438912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12" name="Image 1" descr="images/icon_Fa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675" y="191841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93992" y="18013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The retailer was flying blind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263640" y="242316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incentives earned from Saathi customer transactions vs. his own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which of his customers were active, and which had gone quiet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view of total commission earned, broken down by customer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84632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A1628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MATTERED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22960" y="52578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launch was succeeding at acquisition and quietly failing at retention on both sides — the customer wasn’t sticking, and the retailer had no way to even see it happening, let alone act on it.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295" y="-868680"/>
            <a:ext cx="1920240" cy="1920240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RESEARCH — PERSONAS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sides of the same habit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7" name="Image 0" descr="images/icon_Fa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2002079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11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SUPPLY SIDE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508760" y="2148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Retailer — BC Agent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26517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Jagan C. Satyanarayana — Age 35 — runs a Banking Correspondent counter (cash withdrawal, deposit, AePS, mini-KYC)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2004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79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 </a:t>
            </a:r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his commission income while spending less time per transaction.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406908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know which customers are actually using Saathi vs. gone quiet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separate in-store commission from Saathi-driven commission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incentive to actively push customers toward self-service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Worried self-service means losing the footfall and the relationship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55080" y="160020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0A1628"/>
          </a:solidFill>
          <a:ln/>
        </p:spPr>
      </p:sp>
      <p:sp>
        <p:nvSpPr>
          <p:cNvPr id="15" name="Shape 12"/>
          <p:cNvSpPr/>
          <p:nvPr/>
        </p:nvSpPr>
        <p:spPr>
          <a:xfrm>
            <a:off x="6629400" y="1874520"/>
            <a:ext cx="566928" cy="566928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16" name="Image 1" descr="images/icon_FaUserFrie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959" y="2002079"/>
            <a:ext cx="311810" cy="3118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1911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DEMAND SIDE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315200" y="2148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Customer — BC Services User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6629400" y="26517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Ashalata Manglekar — regularly does cash withdrawal, AePS and mini-statements at her local BC counter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629400" y="32004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 </a:t>
            </a:r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her banking transaction done reliably, without extra effort or risk.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6294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629400" y="406908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with the retailer doing it for her — trusts the person, not an app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no real reason to switch to doing it herself on an unfamiliar app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Saathi once, likely at the retailer’s prompting, but saw no reason to return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no different reward doing it herself vs. simply asking the retailer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295" y="-868680"/>
            <a:ext cx="1920240" cy="1920240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the evidence actually said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819656"/>
            <a:ext cx="438912" cy="438912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7" name="Image 0" descr="images/icon_Fa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1918411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8013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Adoption without retention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3774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self-service activations kept growing, but DAU/MAU for the Saathi App kept dropping underneath — a classic leaky bucket.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16002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08776" y="1819656"/>
            <a:ext cx="438912" cy="438912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12" name="Image 1" descr="images/icon_FaSync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531" y="191841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93992" y="18013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Reversion to the old habit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263640" y="23774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same customers who’d tried Saathi were still going back to transact in-store, through the retailer, on PayNearby.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68096" y="3877056"/>
            <a:ext cx="438912" cy="438912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17" name="Image 2" descr="images/icon_FaUserFrien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" y="3975811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8587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Confirmed on the ground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2960" y="44348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interviews and a structured survey both backed the same pattern — this wasn’t a data artifact, it was real behaviour.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989320" y="36576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08776" y="3877056"/>
            <a:ext cx="438912" cy="438912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22" name="Image 3" descr="images/icon_Fa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531" y="3975811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93992" y="38587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retailer had no visibility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263640" y="44348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which incentives came from Saathi vs. his own transactions, who was active, who’d gone quiet, or total commission by customer.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295" y="-868680"/>
            <a:ext cx="1920240" cy="1920240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OPTIONS CONSIDERED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ways to close the gap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819656"/>
            <a:ext cx="457200" cy="457200"/>
          </a:xfrm>
          <a:prstGeom prst="ellipse">
            <a:avLst/>
          </a:prstGeom>
          <a:solidFill>
            <a:srgbClr val="8A93A8"/>
          </a:solidFill>
          <a:ln/>
        </p:spPr>
      </p:sp>
      <p:pic>
        <p:nvPicPr>
          <p:cNvPr id="7" name="Image 0" descr="images/icon_FaBalance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66" y="1922526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246888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A. Force self-service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" y="297180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or disable retailer-assisted transactions on PayNearby to push customers onto Saathi.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8096" y="3931920"/>
            <a:ext cx="3081528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4050792"/>
            <a:ext cx="3081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54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TRADEOFF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68096" y="4306824"/>
            <a:ext cx="3081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forcing function — but risks losing the customer and the retailer relationship entirely, rather than converting the habit. Too aggressive for a trust-first customer base.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51960" y="160020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71416" y="1819656"/>
            <a:ext cx="457200" cy="457200"/>
          </a:xfrm>
          <a:prstGeom prst="ellipse">
            <a:avLst/>
          </a:prstGeom>
          <a:solidFill>
            <a:srgbClr val="8A93A8"/>
          </a:solidFill>
          <a:ln/>
        </p:spPr>
      </p:sp>
      <p:pic>
        <p:nvPicPr>
          <p:cNvPr id="15" name="Image 1" descr="images/icon_Fa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286" y="1922526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71416" y="246888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B. Flat cashback for self-service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471416" y="297180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customer a fixed discount for transacting on their own.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71416" y="3931920"/>
            <a:ext cx="3081528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71416" y="4050792"/>
            <a:ext cx="3081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54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TRADEOFF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471416" y="4306824"/>
            <a:ext cx="3081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build — but a flat, guaranteed reward is pure cost with no compounding engagement effect. Customers habituate fast; it becomes an entitlement, not a habit driver.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955280" y="160020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74736" y="1819656"/>
            <a:ext cx="457200" cy="457200"/>
          </a:xfrm>
          <a:prstGeom prst="ellipse">
            <a:avLst/>
          </a:prstGeom>
          <a:solidFill>
            <a:srgbClr val="8A93A8"/>
          </a:solidFill>
          <a:ln/>
        </p:spPr>
      </p:sp>
      <p:pic>
        <p:nvPicPr>
          <p:cNvPr id="23" name="Image 2" descr="images/icon_Fa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606" y="1922526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74736" y="246888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C. Retailer-led nudges only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174736" y="297180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reminders and in-store posters encouraging customers to try the app.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174736" y="3931920"/>
            <a:ext cx="3081528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174736" y="4050792"/>
            <a:ext cx="3081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54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TRADEOFF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8174736" y="4306824"/>
            <a:ext cx="3081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— but passive. It educates without creating any real incentive to change, and does nothing for the retailer’s own motivation to promote it.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Rewards System — built for both sides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2651760"/>
          </a:xfrm>
          <a:prstGeom prst="roundRect">
            <a:avLst>
              <a:gd name="adj" fmla="val 4138"/>
            </a:avLst>
          </a:prstGeom>
          <a:solidFill>
            <a:srgbClr val="10203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6" name="Image 0" descr="images/icon_Fa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9773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CUSTOMER SIDE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 randomised reward for every self-service transaction — the unpredictability is what makes her want to come back and try again, not just a one-time discount.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89320" y="1645920"/>
            <a:ext cx="5257800" cy="2651760"/>
          </a:xfrm>
          <a:prstGeom prst="roundRect">
            <a:avLst>
              <a:gd name="adj" fmla="val 4138"/>
            </a:avLst>
          </a:prstGeom>
          <a:solidFill>
            <a:srgbClr val="10203D"/>
          </a:solidFill>
          <a:ln w="12700">
            <a:solidFill>
              <a:srgbClr val="22C5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874520"/>
            <a:ext cx="457200" cy="457200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11" name="Image 1" descr="images/icon_Fa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790" y="19773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RETAILER SIDE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63640" y="242316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full visibility into every Saathi-driven rupee earned, by customer — plus milestone-based bonus incentives when his customers hit usage milestones, giving him a real reason to promote it.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132B1E"/>
          </a:solidFill>
          <a:ln w="12700">
            <a:solidFill>
              <a:srgbClr val="22C5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754880"/>
            <a:ext cx="457200" cy="457200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16" name="Image 2" descr="images/icon_Fa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8577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782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LONG-TERM VISION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68680" y="513892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Make the customer self-sufficient on the Saathi App — reducing load on the retailer’s in-store counter and on the PayNearby app, one habit at a time.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DEEP DIVE — CUSTOMER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reason for the customer to come back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943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customer completes a transaction on the Saathi App by herself, she gets a randomised reward — a small credit, a coupon, or sometimes a friendly miss. It’s the same unpredictability that makes a scratch card exciting, applied to something as routine as an AePS withdrawal.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6492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neutral, habitual action into something with a small emotional payoff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rewards build a stronger habit loop than a flat, predictable discount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even if the retailer never actively mentions it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052560" y="1371600"/>
            <a:ext cx="2606040" cy="4480560"/>
          </a:xfrm>
          <a:prstGeom prst="roundRect">
            <a:avLst>
              <a:gd name="adj" fmla="val 4912"/>
            </a:avLst>
          </a:prstGeom>
          <a:solidFill>
            <a:srgbClr val="10203D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2660" y="2743200"/>
            <a:ext cx="1005840" cy="100584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9" name="Image 0" descr="images/icon_Fa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9466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23544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CONCEPT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281160" y="4343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customer-facing reward reveal on the Saathi App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DEEP DIVE — RETAILER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reason for the retailer to promote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943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customer hits a usage milestone on Saathi — say, her 5th self-service transaction — the retailer unlocks a bonus incentive of his own, revealed the same way: a small, delightful moment, not a buried line item.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6492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‘promote the app’ from an abstract ask into a concrete, earnable outcome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the retailer’s incentive with the exact behaviour we need — customers coming back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retailer an active partner in the habit change, not a bystander losing footfall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435340" y="1261872"/>
            <a:ext cx="2235708" cy="4700016"/>
          </a:xfrm>
          <a:prstGeom prst="roundRect">
            <a:avLst>
              <a:gd name="adj" fmla="val 5726"/>
            </a:avLst>
          </a:prstGeom>
          <a:solidFill>
            <a:srgbClr val="10203D"/>
          </a:solidFill>
          <a:ln/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0" descr="images/scratch_w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45068" y="1371600"/>
            <a:ext cx="2016252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295" y="-868680"/>
            <a:ext cx="1920240" cy="1920240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DEEP DIVE — RETAILER SIDE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 he couldn’t see, now in one place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628900" y="1627632"/>
            <a:ext cx="1671066" cy="3557016"/>
          </a:xfrm>
          <a:prstGeom prst="roundRect">
            <a:avLst>
              <a:gd name="adj" fmla="val 5472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pic>
        <p:nvPicPr>
          <p:cNvPr id="6" name="Image 0" descr="images/loyalty_bal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92908" y="1691640"/>
            <a:ext cx="154305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92908" y="5230368"/>
            <a:ext cx="15430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Loyalty Balance &amp; Redeem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692908" y="5687568"/>
            <a:ext cx="15430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— Saathi + in-store combined, one tap to redeem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73118" y="1627632"/>
            <a:ext cx="1671066" cy="3557016"/>
          </a:xfrm>
          <a:prstGeom prst="roundRect">
            <a:avLst>
              <a:gd name="adj" fmla="val 5472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pic>
        <p:nvPicPr>
          <p:cNvPr id="10" name="Image 1" descr="images/incentive_by_custom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7126" y="1691640"/>
            <a:ext cx="1543050" cy="3429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7126" y="5230368"/>
            <a:ext cx="15430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Incentive History by Customer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437126" y="5687568"/>
            <a:ext cx="15430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who transacted, how often, and what it earned him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17336" y="1627632"/>
            <a:ext cx="1671066" cy="3557016"/>
          </a:xfrm>
          <a:prstGeom prst="roundRect">
            <a:avLst>
              <a:gd name="adj" fmla="val 5472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pic>
        <p:nvPicPr>
          <p:cNvPr id="14" name="Image 2" descr="images/earnings_expan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81344" y="1691640"/>
            <a:ext cx="1543050" cy="3429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81344" y="5230368"/>
            <a:ext cx="15430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Earnings &amp; Redeem History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181344" y="5687568"/>
            <a:ext cx="15430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running, trustworthy record of every past payout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861554" y="1627632"/>
            <a:ext cx="1671066" cy="3557016"/>
          </a:xfrm>
          <a:prstGeom prst="roundRect">
            <a:avLst>
              <a:gd name="adj" fmla="val 5472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pic>
        <p:nvPicPr>
          <p:cNvPr id="18" name="Image 3" descr="images/search_incentive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25562" y="1691640"/>
            <a:ext cx="1543050" cy="3429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25562" y="5230368"/>
            <a:ext cx="15430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&amp; Filter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7925562" y="5687568"/>
            <a:ext cx="15430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 once a retailer has hundreds of customers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Vision &amp; North Star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10203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93392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6" name="Image 0" descr="images/icon_Fa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096262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Banking Correspondent customer feels confident transacting on their own — and every retailer can see exactly how that pays him.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132B1E"/>
          </a:solidFill>
          <a:ln w="12700">
            <a:solidFill>
              <a:srgbClr val="22C5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4096512"/>
            <a:ext cx="457200" cy="457200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11" name="Image 1" descr="images/icon_Fa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419938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NORTH STAR METRIC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68680" y="44805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30-Day Customer Self-Service Repeat Rate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868680" y="5029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% of Saathi customers who transact on their own again within 30 days of their first self-service transaction — the one number that separates a real habit from a one-time trial.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295" y="-868680"/>
            <a:ext cx="1920240" cy="1920240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OKRs &amp; product principles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   </a:t>
            </a:r>
            <a:pPr indent="0" marL="0">
              <a:buNone/>
            </a:pPr>
            <a:r>
              <a:rPr lang="en-US" sz="150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 a one-time trial into a lasting self-service habit for the customer, and a lasting promotion habit for the retailer.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2935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KR1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898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+64%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24612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30-day customer self-service repeat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278892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53128" y="2935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KR2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2898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−38%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53128" y="324612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reversion to in-store PayNearby transactions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278892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56448" y="2935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KR3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18120" y="2898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+52%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56448" y="3246120"/>
            <a:ext cx="3118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retailer engagement with the visibility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PRINCIPLES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2578608" cy="1051560"/>
          </a:xfrm>
          <a:prstGeom prst="roundRect">
            <a:avLst>
              <a:gd name="adj" fmla="val 8696"/>
            </a:avLst>
          </a:prstGeom>
          <a:solidFill>
            <a:srgbClr val="EAF7EF"/>
          </a:solidFill>
          <a:ln w="12700">
            <a:solidFill>
              <a:srgbClr val="22C5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709160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Reward the behaviour, not the transaction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73552" y="4709160"/>
            <a:ext cx="2578608" cy="1051560"/>
          </a:xfrm>
          <a:prstGeom prst="roundRect">
            <a:avLst>
              <a:gd name="adj" fmla="val 8696"/>
            </a:avLst>
          </a:prstGeom>
          <a:solidFill>
            <a:srgbClr val="EAF7EF"/>
          </a:solidFill>
          <a:ln w="12700">
            <a:solidFill>
              <a:srgbClr val="22C5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4709160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Make the invisible visible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98464" y="4709160"/>
            <a:ext cx="2578608" cy="1051560"/>
          </a:xfrm>
          <a:prstGeom prst="roundRect">
            <a:avLst>
              <a:gd name="adj" fmla="val 8696"/>
            </a:avLst>
          </a:prstGeom>
          <a:solidFill>
            <a:srgbClr val="EAF7EF"/>
          </a:solidFill>
          <a:ln w="12700">
            <a:solidFill>
              <a:srgbClr val="22C5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5624" y="4709160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Two-sided incentives, not one-sided asks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723376" y="4709160"/>
            <a:ext cx="2578608" cy="1051560"/>
          </a:xfrm>
          <a:prstGeom prst="roundRect">
            <a:avLst>
              <a:gd name="adj" fmla="val 8696"/>
            </a:avLst>
          </a:prstGeom>
          <a:solidFill>
            <a:srgbClr val="EAF7EF"/>
          </a:solidFill>
          <a:ln w="12700">
            <a:solidFill>
              <a:srgbClr val="22C5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0536" y="4709160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Self-service should feel easier, not just cheaper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295" y="-868680"/>
            <a:ext cx="1920240" cy="1920240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PRIORITIZATION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Sequencing the roadmap with RICE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188720"/>
                <a:gridCol w="1188720"/>
                <a:gridCol w="1463040"/>
                <a:gridCol w="1188720"/>
                <a:gridCol w="1188720"/>
                <a:gridCol w="11887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Feature</a:t>
                      </a:r>
                      <a:endParaRPr lang="en-US" sz="13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Reach</a:t>
                      </a:r>
                      <a:endParaRPr lang="en-US" sz="13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Impact</a:t>
                      </a:r>
                      <a:endParaRPr lang="en-US" sz="13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Confidence</a:t>
                      </a:r>
                      <a:endParaRPr lang="en-US" sz="13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Effort</a:t>
                      </a:r>
                      <a:endParaRPr lang="en-US" sz="13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Score</a:t>
                      </a:r>
                      <a:endParaRPr lang="en-US" sz="13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Priority</a:t>
                      </a:r>
                      <a:endParaRPr lang="en-US" sz="13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Randomised Rewards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16,044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9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Retailer Visibility Dashboard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9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Retailer Milestone Incentives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11,333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9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Commission Credit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9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&amp; Filter (Retailer)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9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(Reach × Impact × Confidence) ÷ Effort. Customer rewards and retailer visibility rank highest — they directly attack the two confirmed problems; milestone incentives and infra follow once the core loop is proven.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295" y="-868680"/>
            <a:ext cx="1920240" cy="1920240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KPI dashboard behind the launch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78608" cy="274320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745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50" kern="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REVERSION TO IN-STORE TXNS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−38%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189673" cy="82296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641" y="3429000"/>
            <a:ext cx="189673" cy="73152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11" name="Shape 9"/>
          <p:cNvSpPr/>
          <p:nvPr/>
        </p:nvSpPr>
        <p:spPr>
          <a:xfrm>
            <a:off x="1363762" y="3520440"/>
            <a:ext cx="189673" cy="64008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12" name="Shape 10"/>
          <p:cNvSpPr/>
          <p:nvPr/>
        </p:nvSpPr>
        <p:spPr>
          <a:xfrm>
            <a:off x="1679883" y="3611880"/>
            <a:ext cx="189673" cy="54864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13" name="Shape 11"/>
          <p:cNvSpPr/>
          <p:nvPr/>
        </p:nvSpPr>
        <p:spPr>
          <a:xfrm>
            <a:off x="1996005" y="3703320"/>
            <a:ext cx="189673" cy="45720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312126" y="3794760"/>
            <a:ext cx="189673" cy="36576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15" name="Shape 13"/>
          <p:cNvSpPr/>
          <p:nvPr/>
        </p:nvSpPr>
        <p:spPr>
          <a:xfrm>
            <a:off x="2628247" y="3794760"/>
            <a:ext cx="189673" cy="36576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16" name="Shape 14"/>
          <p:cNvSpPr/>
          <p:nvPr/>
        </p:nvSpPr>
        <p:spPr>
          <a:xfrm>
            <a:off x="3310128" y="1691640"/>
            <a:ext cx="2578608" cy="274320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93008" y="18745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50" kern="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RETAILER WKLY USE OF DASHBOARD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93008" y="23774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3.4x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493008" y="29718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 week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93008" y="3886200"/>
            <a:ext cx="189673" cy="27432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09129" y="3794760"/>
            <a:ext cx="189673" cy="36576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25250" y="3794760"/>
            <a:ext cx="189673" cy="36576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23" name="Shape 21"/>
          <p:cNvSpPr/>
          <p:nvPr/>
        </p:nvSpPr>
        <p:spPr>
          <a:xfrm>
            <a:off x="4441371" y="3703320"/>
            <a:ext cx="189673" cy="45720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7493" y="3611880"/>
            <a:ext cx="189673" cy="54864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25" name="Shape 23"/>
          <p:cNvSpPr/>
          <p:nvPr/>
        </p:nvSpPr>
        <p:spPr>
          <a:xfrm>
            <a:off x="5073614" y="3520440"/>
            <a:ext cx="189673" cy="64008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26" name="Shape 24"/>
          <p:cNvSpPr/>
          <p:nvPr/>
        </p:nvSpPr>
        <p:spPr>
          <a:xfrm>
            <a:off x="5389735" y="3429000"/>
            <a:ext cx="189673" cy="73152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27" name="Shape 25"/>
          <p:cNvSpPr/>
          <p:nvPr/>
        </p:nvSpPr>
        <p:spPr>
          <a:xfrm>
            <a:off x="6071616" y="1691640"/>
            <a:ext cx="2578608" cy="274320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54496" y="18745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50" kern="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MILESTONE COMPLETION RATE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54496" y="23774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58%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54496" y="29718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active retailers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54496" y="3886200"/>
            <a:ext cx="189673" cy="27432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32" name="Shape 30"/>
          <p:cNvSpPr/>
          <p:nvPr/>
        </p:nvSpPr>
        <p:spPr>
          <a:xfrm>
            <a:off x="6570617" y="3794760"/>
            <a:ext cx="189673" cy="36576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33" name="Shape 31"/>
          <p:cNvSpPr/>
          <p:nvPr/>
        </p:nvSpPr>
        <p:spPr>
          <a:xfrm>
            <a:off x="6886738" y="3703320"/>
            <a:ext cx="189673" cy="45720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34" name="Shape 32"/>
          <p:cNvSpPr/>
          <p:nvPr/>
        </p:nvSpPr>
        <p:spPr>
          <a:xfrm>
            <a:off x="7202859" y="3611880"/>
            <a:ext cx="189673" cy="54864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35" name="Shape 33"/>
          <p:cNvSpPr/>
          <p:nvPr/>
        </p:nvSpPr>
        <p:spPr>
          <a:xfrm>
            <a:off x="7518981" y="3520440"/>
            <a:ext cx="189673" cy="64008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36" name="Shape 34"/>
          <p:cNvSpPr/>
          <p:nvPr/>
        </p:nvSpPr>
        <p:spPr>
          <a:xfrm>
            <a:off x="7835102" y="3520440"/>
            <a:ext cx="189673" cy="64008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37" name="Shape 35"/>
          <p:cNvSpPr/>
          <p:nvPr/>
        </p:nvSpPr>
        <p:spPr>
          <a:xfrm>
            <a:off x="8151223" y="3429000"/>
            <a:ext cx="189673" cy="731520"/>
          </a:xfrm>
          <a:prstGeom prst="rect">
            <a:avLst/>
          </a:prstGeom>
          <a:solidFill>
            <a:srgbClr val="22C56B"/>
          </a:solidFill>
          <a:ln/>
        </p:spPr>
      </p:sp>
      <p:sp>
        <p:nvSpPr>
          <p:cNvPr id="38" name="Shape 36"/>
          <p:cNvSpPr/>
          <p:nvPr/>
        </p:nvSpPr>
        <p:spPr>
          <a:xfrm>
            <a:off x="8833104" y="1691640"/>
            <a:ext cx="2578608" cy="274320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A4A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015984" y="18745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50" kern="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DAYS TO 2ND SELF-SERVICE TXN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015984" y="23774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4.2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9015984" y="29718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 from ~19 days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15984" y="3337560"/>
            <a:ext cx="189673" cy="82296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43" name="Shape 41"/>
          <p:cNvSpPr/>
          <p:nvPr/>
        </p:nvSpPr>
        <p:spPr>
          <a:xfrm>
            <a:off x="9332105" y="3429000"/>
            <a:ext cx="189673" cy="73152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44" name="Shape 42"/>
          <p:cNvSpPr/>
          <p:nvPr/>
        </p:nvSpPr>
        <p:spPr>
          <a:xfrm>
            <a:off x="9648226" y="3611880"/>
            <a:ext cx="189673" cy="54864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45" name="Shape 43"/>
          <p:cNvSpPr/>
          <p:nvPr/>
        </p:nvSpPr>
        <p:spPr>
          <a:xfrm>
            <a:off x="9964347" y="3703320"/>
            <a:ext cx="189673" cy="45720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80469" y="3794760"/>
            <a:ext cx="189673" cy="36576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47" name="Shape 45"/>
          <p:cNvSpPr/>
          <p:nvPr/>
        </p:nvSpPr>
        <p:spPr>
          <a:xfrm>
            <a:off x="10596590" y="3794760"/>
            <a:ext cx="189673" cy="36576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48" name="Shape 46"/>
          <p:cNvSpPr/>
          <p:nvPr/>
        </p:nvSpPr>
        <p:spPr>
          <a:xfrm>
            <a:off x="10912711" y="3886200"/>
            <a:ext cx="189673" cy="274320"/>
          </a:xfrm>
          <a:prstGeom prst="rect">
            <a:avLst/>
          </a:prstGeom>
          <a:solidFill>
            <a:srgbClr val="E5544D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188720"/>
            <a:ext cx="2926080" cy="2926080"/>
          </a:xfrm>
          <a:prstGeom prst="ellipse">
            <a:avLst/>
          </a:prstGeom>
          <a:solidFill>
            <a:srgbClr val="10203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212080"/>
            <a:ext cx="2926080" cy="2926080"/>
          </a:xfrm>
          <a:prstGeom prst="ellipse">
            <a:avLst/>
          </a:prstGeom>
          <a:solidFill>
            <a:srgbClr val="17294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530352" cy="530352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5" name="Image 0" descr="images/icon_Fa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969" y="576529"/>
            <a:ext cx="291694" cy="291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changed once it shipped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09448" y="196596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10203D"/>
          </a:solidFill>
          <a:ln w="12700">
            <a:solidFill>
              <a:srgbClr val="22C5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6608" y="21945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38048" y="315468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self-service customer acquisition, expanding the base the rewards system now retains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98368" y="196596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10203D"/>
          </a:solidFill>
          <a:ln w="12700">
            <a:solidFill>
              <a:srgbClr val="22C5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35528" y="21945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3626968" y="315468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uplift among self-service customers — keeping them off the in-store fallback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87288" y="196596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10203D"/>
          </a:solidFill>
          <a:ln w="12700">
            <a:solidFill>
              <a:srgbClr val="22C5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24448" y="21945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64%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6415888" y="315468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repeat self-service transactions — directly reversing the ‘no repeat txn’ pattern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76208" y="196596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10203D"/>
          </a:solidFill>
          <a:ln w="12700">
            <a:solidFill>
              <a:srgbClr val="22C5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13368" y="21945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52%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9204808" y="315468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in DAU/MAU, turning the early decline into sustained growth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7295" y="-868680"/>
            <a:ext cx="1920240" cy="1920240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92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Constraints, tradeoffs &amp; how I resolved them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7" name="Image 0" descr="images/icon_FaExclamation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01368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Retailer had a soft disincentive to promote self-service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011680"/>
            <a:ext cx="365760" cy="365760"/>
          </a:xfrm>
          <a:prstGeom prst="ellipse">
            <a:avLst/>
          </a:prstGeom>
          <a:solidFill>
            <a:srgbClr val="22C56B"/>
          </a:solidFill>
          <a:ln/>
        </p:spPr>
      </p:sp>
      <p:sp>
        <p:nvSpPr>
          <p:cNvPr id="10" name="Text 7"/>
          <p:cNvSpPr/>
          <p:nvPr/>
        </p:nvSpPr>
        <p:spPr>
          <a:xfrm>
            <a:off x="62636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12280" y="1801368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milestone bonuses directly to customer self-service activity, making promotion directly profitable for him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825496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3099816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14" name="Image 1" descr="images/icon_FaExclamation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3202686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2935224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 to attribute a Saathi-origin commission inside a shared ledger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63640" y="3145536"/>
            <a:ext cx="365760" cy="365760"/>
          </a:xfrm>
          <a:prstGeom prst="ellipse">
            <a:avLst/>
          </a:prstGeom>
          <a:solidFill>
            <a:srgbClr val="22C56B"/>
          </a:solidFill>
          <a:ln/>
        </p:spPr>
      </p:sp>
      <p:sp>
        <p:nvSpPr>
          <p:cNvPr id="17" name="Text 13"/>
          <p:cNvSpPr/>
          <p:nvPr/>
        </p:nvSpPr>
        <p:spPr>
          <a:xfrm>
            <a:off x="626364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812280" y="2935224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Saathi vs. PayNearby split directly into the incentive history view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3959352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7240" y="4233672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1" name="Image 2" descr="images/icon_FaExclamationTria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4336542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406908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Randomised rewards risked feeling like ‘found money’, not habit reinforcement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63640" y="4279392"/>
            <a:ext cx="365760" cy="365760"/>
          </a:xfrm>
          <a:prstGeom prst="ellipse">
            <a:avLst/>
          </a:prstGeom>
          <a:solidFill>
            <a:srgbClr val="22C56B"/>
          </a:solidFill>
          <a:ln/>
        </p:spPr>
      </p:sp>
      <p:sp>
        <p:nvSpPr>
          <p:cNvPr id="24" name="Text 19"/>
          <p:cNvSpPr/>
          <p:nvPr/>
        </p:nvSpPr>
        <p:spPr>
          <a:xfrm>
            <a:off x="626364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812280" y="4069080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reward timing to land immediately after the self-service action, never batched later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48640" y="5093208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77240" y="5367528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8" name="Image 3" descr="images/icon_FaExclamationTri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5470398"/>
            <a:ext cx="251460" cy="2514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5202936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621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of retailers gaming milestones with fake activity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263640" y="5413248"/>
            <a:ext cx="365760" cy="365760"/>
          </a:xfrm>
          <a:prstGeom prst="ellipse">
            <a:avLst/>
          </a:prstGeom>
          <a:solidFill>
            <a:srgbClr val="22C56B"/>
          </a:solidFill>
          <a:ln/>
        </p:spPr>
      </p:sp>
      <p:sp>
        <p:nvSpPr>
          <p:cNvPr id="31" name="Text 25"/>
          <p:cNvSpPr/>
          <p:nvPr/>
        </p:nvSpPr>
        <p:spPr>
          <a:xfrm>
            <a:off x="6263640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812280" y="5202936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milestone verification tied only to genuine, unique completed transactions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9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LEARNINGS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this project taught 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0203D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911096"/>
            <a:ext cx="457200" cy="457200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6" name="Image 0" descr="images/icon_FaBalance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66" y="2013966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928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Behaviour change needs incentives on both sides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Rewarding only the customer, or only the retailer, wouldn’t have worked — the habit had to be profitable for both.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0203D"/>
          </a:solidFill>
          <a:ln/>
        </p:spPr>
      </p:sp>
      <p:sp>
        <p:nvSpPr>
          <p:cNvPr id="10" name="Shape 7"/>
          <p:cNvSpPr/>
          <p:nvPr/>
        </p:nvSpPr>
        <p:spPr>
          <a:xfrm>
            <a:off x="6208776" y="1911096"/>
            <a:ext cx="457200" cy="457200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11" name="Image 1" descr="images/icon_Fa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646" y="2013966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12280" y="18928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Retention problems hide behind acquisition metrics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263640" y="25146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growth looked healthy while DAU/MAU and repeat rate were quietly declining underneath 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0203D"/>
          </a:solidFill>
          <a:ln/>
        </p:spPr>
      </p:sp>
      <p:sp>
        <p:nvSpPr>
          <p:cNvPr id="15" name="Shape 11"/>
          <p:cNvSpPr/>
          <p:nvPr/>
        </p:nvSpPr>
        <p:spPr>
          <a:xfrm>
            <a:off x="768096" y="4059936"/>
            <a:ext cx="457200" cy="457200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16" name="Image 2" descr="images/icon_Fa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66" y="4162806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0416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Visibility is itself a retention lever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46634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letting the retailer see what was happening changed his behaviour, before any incentive was even added.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8932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10203D"/>
          </a:solidFill>
          <a:ln/>
        </p:spPr>
      </p:sp>
      <p:sp>
        <p:nvSpPr>
          <p:cNvPr id="20" name="Shape 15"/>
          <p:cNvSpPr/>
          <p:nvPr/>
        </p:nvSpPr>
        <p:spPr>
          <a:xfrm>
            <a:off x="6208776" y="4059936"/>
            <a:ext cx="457200" cy="457200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21" name="Image 3" descr="images/icon_FaUserFriend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646" y="4162806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12280" y="40416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 the human story, not just the dashboard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63640" y="46634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DAU/MAU dip only became a confirmed problem once retailer interviews backed up what the data was hinting at.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Engagement Engine — PM Portfolio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0203D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7294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834640"/>
            <a:ext cx="822960" cy="822960"/>
          </a:xfrm>
          <a:prstGeom prst="ellipse">
            <a:avLst/>
          </a:prstGeom>
          <a:solidFill>
            <a:srgbClr val="22C56B"/>
          </a:solidFill>
          <a:ln/>
        </p:spPr>
      </p:sp>
      <p:pic>
        <p:nvPicPr>
          <p:cNvPr id="5" name="Image 0" descr="images/icon_Fa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30198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F0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566928" y="3977640"/>
            <a:ext cx="2011680" cy="0"/>
          </a:xfrm>
          <a:prstGeom prst="line">
            <a:avLst/>
          </a:prstGeom>
          <a:noFill/>
          <a:ln w="25400">
            <a:solidFill>
              <a:srgbClr val="F5B9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" kern="0" dirty="0">
                <a:solidFill>
                  <a:srgbClr val="93A2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REWARDS &amp; ENGAGEMENT ENGINE — BC SELF-SERVICE MIGRATION  |  SIBIN  |  PRODUCT OWNER, LOYALTY, RETENTION &amp; GROWTH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2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Rewards &amp; Engagement Engine — BC Self-Service Migration</dc:title>
  <dc:subject>PptxGenJS Presentation</dc:subject>
  <dc:creator>Sibin</dc:creator>
  <cp:lastModifiedBy>Sibin</cp:lastModifiedBy>
  <cp:revision>1</cp:revision>
  <dcterms:created xsi:type="dcterms:W3CDTF">2026-07-07T05:42:31Z</dcterms:created>
  <dcterms:modified xsi:type="dcterms:W3CDTF">2026-07-07T05:42:31Z</dcterms:modified>
</cp:coreProperties>
</file>