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8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i Chauhan" userId="59cb83cbcb583fc4" providerId="LiveId" clId="{F5A3EDAC-2B62-41E1-9453-EA1A116F948D}"/>
    <pc:docChg chg="modSld">
      <pc:chgData name="Dhruvi Chauhan" userId="59cb83cbcb583fc4" providerId="LiveId" clId="{F5A3EDAC-2B62-41E1-9453-EA1A116F948D}" dt="2026-07-14T07:28:58.876" v="56" actId="20577"/>
      <pc:docMkLst>
        <pc:docMk/>
      </pc:docMkLst>
      <pc:sldChg chg="modSp mod">
        <pc:chgData name="Dhruvi Chauhan" userId="59cb83cbcb583fc4" providerId="LiveId" clId="{F5A3EDAC-2B62-41E1-9453-EA1A116F948D}" dt="2026-07-14T07:28:58.876" v="56" actId="20577"/>
        <pc:sldMkLst>
          <pc:docMk/>
          <pc:sldMk cId="0" sldId="272"/>
        </pc:sldMkLst>
        <pc:spChg chg="mod">
          <ac:chgData name="Dhruvi Chauhan" userId="59cb83cbcb583fc4" providerId="LiveId" clId="{F5A3EDAC-2B62-41E1-9453-EA1A116F948D}" dt="2026-07-14T07:28:41.639" v="13" actId="20577"/>
          <ac:spMkLst>
            <pc:docMk/>
            <pc:sldMk cId="0" sldId="272"/>
            <ac:spMk id="6" creationId="{00000000-0000-0000-0000-000000000000}"/>
          </ac:spMkLst>
        </pc:spChg>
        <pc:spChg chg="mod">
          <ac:chgData name="Dhruvi Chauhan" userId="59cb83cbcb583fc4" providerId="LiveId" clId="{F5A3EDAC-2B62-41E1-9453-EA1A116F948D}" dt="2026-07-14T07:28:58.876" v="56" actId="20577"/>
          <ac:spMkLst>
            <pc:docMk/>
            <pc:sldMk cId="0" sldId="27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04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937760"/>
            <a:ext cx="3840480" cy="3840480"/>
          </a:xfrm>
          <a:prstGeom prst="ellipse">
            <a:avLst/>
          </a:prstGeom>
          <a:solidFill>
            <a:srgbClr val="F3EEF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CASE STUDY  ·  AGRI-FINTECH SAAS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</a:t>
            </a:r>
            <a:r>
              <a:rPr lang="en-US" sz="6800" b="1" i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SaaS platform I architected to automate India's fertilizer subsidy claims chain — replacing manual government-portal reconciliation with RPA-driven data capture, real-time stakeholder nudges, and role-based analytics.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 &amp; Product Owner   ·   Architecture note v1.0 → v1.2   ·   Mar – Jul 2020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42793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4672" y="4983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portals automated — iFMS &amp; MFMS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4114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75304" y="42793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75304" y="4983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— legacy claims cycle after DBT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4114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42793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45936" y="4983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tiers in the ack. chain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51976" y="4114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EEFD"/>
          </a:solidFill>
          <a:ln/>
          <a:effectLst>
            <a:outerShdw blurRad="101600" dist="25400" dir="5400000" algn="bl" rotWithShape="0">
              <a:srgbClr val="8B7CB6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16568" y="4279392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16568" y="49834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architecture revisions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handover needs a government-portal acknowledgement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fertilizer subsidy is paid by the government directly to manufacturers, but only once every handover in the </a:t>
            </a:r>
            <a:r>
              <a:rPr lang="en-US" sz="16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→ rake point → wholesaler → retailer → farmer</a:t>
            </a:r>
            <a:r>
              <a:rPr lang="en-US" sz="16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chain is acknowledged on a government portal. DBT stretched that reconciliation cycle from under 30 days to </a:t>
            </a:r>
            <a:r>
              <a:rPr lang="en-US" sz="16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r>
              <a:rPr lang="en-US" sz="16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entire process was still being run by hand.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3EEFD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990088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moves faster than people can read 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438912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portal updates constantly, but companies were only pulling it weekly or fortnightly.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78892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3EEFD"/>
          </a:solidFill>
          <a:ln/>
        </p:spPr>
      </p:sp>
      <p:sp>
        <p:nvSpPr>
          <p:cNvPr id="11" name="Shape 9"/>
          <p:cNvSpPr/>
          <p:nvPr/>
        </p:nvSpPr>
        <p:spPr>
          <a:xfrm>
            <a:off x="4498848" y="2990088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365760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consolidation, manual errors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98848" y="438912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teams hand-downloaded reports and rebuilt pending-acknowledgement lists in Excel — every step open to error.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78892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3EE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47888" y="2990088"/>
            <a:ext cx="457200" cy="4572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47888" y="365760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officers act on stale data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47888" y="438912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nudge reached a wholesaler or retailer, the numbers behind it were already out of date.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had to be true 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framed the business case around three outcomes, then translated each into architectural commitments before writing a line of the design.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subsidy claims cycle by driving faster stock-receipt acknowledgements and surfacing long-standing inventory for liquidation.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efficiency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474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repetitive admin work field officers were doing so their time goes back into direct selling.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2880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34747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same portal data into production planning, sales strategy, and competitive insight for the manufacturer.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architectural goals I set to get there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453896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from iFMS &amp; MFMS on a regular, automated cadence via web automation.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parse, and persist that data against real business requirements.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19856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37560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it against defined business KPIs, not raw dumps.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61688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279392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every stakeholder per predefined workflows and rules.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8464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303520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5221224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portal downtime — a fault-resilient platform, not a fragile one.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1536192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453896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horizontally as subsidy volumes grow.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2359152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478024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2395728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stakeholders visibility into job execution, with alerts on failure.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72200" y="3300984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419856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337560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automated, intelligent KPI dashboards for the sales-and-stock lifecycle.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4242816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4361688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4279392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business users manually trigger and pull reports on demand.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72200" y="518464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5303520"/>
            <a:ext cx="365760" cy="3657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5221224"/>
            <a:ext cx="47548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tenant's data secure and logically isolated.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BEFORE SUBSIDEX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was no system to displace. Just a habit.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had no software here at all — MIS teams manually pulled government data weekly or fortnightly and curated it in spreadsheets to decide what the field force should chase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3EEF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07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download from the Govt. portal, weekly or fortnightly.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3337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3EEF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807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by hand or in XL sheets into a pending-action list.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97880" y="3337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3EE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807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Actionables emailed out to the field force.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32520" y="3337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52560" y="260604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2807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32461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staleness compounding at every cycle.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capabilities I scoped into v1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96596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RPA-driven report downloads from the Govt. portal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8" name="Text 6"/>
          <p:cNvSpPr/>
          <p:nvPr/>
        </p:nvSpPr>
        <p:spPr>
          <a:xfrm>
            <a:off x="4489704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9704" y="196596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download frequency &amp; timing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11" name="Text 9"/>
          <p:cNvSpPr/>
          <p:nvPr/>
        </p:nvSpPr>
        <p:spPr>
          <a:xfrm>
            <a:off x="8284464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84464" y="196596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captcha resolution on login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2944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320040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merge of same-report files into the DB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283464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17" name="Text 15"/>
          <p:cNvSpPr/>
          <p:nvPr/>
        </p:nvSpPr>
        <p:spPr>
          <a:xfrm>
            <a:off x="4489704" y="2944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9704" y="320040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mechanisms for portal flakiness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283464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2944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4464" y="320040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management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" y="443484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implementation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0690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26" name="Text 24"/>
          <p:cNvSpPr/>
          <p:nvPr/>
        </p:nvSpPr>
        <p:spPr>
          <a:xfrm>
            <a:off x="4489704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9704" y="443484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secure tenant-specific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0690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29" name="Text 27"/>
          <p:cNvSpPr/>
          <p:nvPr/>
        </p:nvSpPr>
        <p:spPr>
          <a:xfrm>
            <a:off x="8284464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84464" y="443484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consolidation with per-tenant archival policy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5413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" y="566928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per authorisation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43400" y="53035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35" name="Text 33"/>
          <p:cNvSpPr/>
          <p:nvPr/>
        </p:nvSpPr>
        <p:spPr>
          <a:xfrm>
            <a:off x="4489704" y="5413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89704" y="566928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for monitoring processing status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38160" y="530352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3EEFD"/>
          </a:solidFill>
          <a:ln/>
        </p:spPr>
      </p:sp>
      <p:sp>
        <p:nvSpPr>
          <p:cNvPr id="38" name="Text 36"/>
          <p:cNvSpPr/>
          <p:nvPr/>
        </p:nvSpPr>
        <p:spPr>
          <a:xfrm>
            <a:off x="8284464" y="5413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84464" y="566928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integrations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constraints I designed against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available on the Govt. portals in the first place.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iFMS &amp; MFMS refresh before 8 AM daily.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route via SMS, email, or the Khaad Dealer App.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access sits behind a separate re-login for that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is entirely dependent on portal uptime.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is capped by the accuracy of the source portal.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Govt. UI change means redevelopment of the scraping layer.</a:t>
            </a:r>
            <a:endParaRPr lang="en-US" sz="1400" dirty="0"/>
          </a:p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delivery both depend on third-party providers.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module map — from RPA capture at the edge through to the analytics layer the business teams actually live 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462764" y="1810512"/>
            <a:ext cx="5266167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  <a:effectLst>
            <a:outerShdw blurRad="127000" dist="25400" dir="5400000" algn="bl" rotWithShape="0">
              <a:srgbClr val="8B7CB6">
                <a:alpha val="20000"/>
              </a:srgbClr>
            </a:outerShdw>
          </a:effectLst>
        </p:spPr>
      </p:sp>
      <p:pic>
        <p:nvPicPr>
          <p:cNvPr id="6" name="Image 0" descr="app-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492" y="1920240"/>
            <a:ext cx="5046711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infrastructure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end-to-end on IBM Cloud infrastructure.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23025" y="1673352"/>
            <a:ext cx="6945645" cy="4197096"/>
          </a:xfrm>
          <a:prstGeom prst="roundRect">
            <a:avLst>
              <a:gd name="adj" fmla="val 1307"/>
            </a:avLst>
          </a:prstGeom>
          <a:solidFill>
            <a:srgbClr val="FFFFFF"/>
          </a:solidFill>
          <a:ln w="15875">
            <a:solidFill>
              <a:srgbClr val="C4B5FD"/>
            </a:solidFill>
            <a:prstDash val="solid"/>
          </a:ln>
          <a:effectLst>
            <a:outerShdw blurRad="127000" dist="25400" dir="5400000" algn="bl" rotWithShape="0">
              <a:srgbClr val="8B7CB6">
                <a:alpha val="20000"/>
              </a:srgbClr>
            </a:outerShdw>
          </a:effectLst>
        </p:spPr>
      </p:sp>
      <p:pic>
        <p:nvPicPr>
          <p:cNvPr id="6" name="Image 0" descr="integratio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753" y="1783080"/>
            <a:ext cx="6726189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a single scraped file takes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is hosted and managed on IBM infrastructure as a cloud service.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871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3957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stays connected to the RPA agent over JNLP; scraping jobs run on independent slave servers.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015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101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RPA agent extracts are pushed to IBM file storage via the IBM SDK's REST API.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159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2245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upload fires an event that publishes a message onto IBM MQ via JMS.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2303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30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1389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Processor is subscribed to that queue and pulls the matching file back down on arrival.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15727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47688" y="14813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validates, maps, and cleans the data, persisting it into Postgres via JDBC, per-tenant schema.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23957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4871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47688" y="23957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processor pushes the relevant data out over SMS and email via third-party APIs.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3101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4015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47688" y="33101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client calls the web server for anything a user needs on screen.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42245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43159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47688" y="42245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dashboard reads straight from the relevant DB schemas through DB connectors.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72200" y="5138928"/>
            <a:ext cx="5257800" cy="0"/>
          </a:xfrm>
          <a:prstGeom prst="line">
            <a:avLst/>
          </a:prstGeom>
          <a:noFill/>
          <a:ln w="12700">
            <a:solidFill>
              <a:srgbClr val="E5DE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5230368"/>
            <a:ext cx="347472" cy="34747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5230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47688" y="5138928"/>
            <a:ext cx="4782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themselves are built on Microsoft Power BI.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engine &amp; external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ENGINE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Selenium-based framework, config-driven rather than script-per-portal.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03520" cy="914400"/>
          </a:xfrm>
          <a:prstGeom prst="roundRect">
            <a:avLst>
              <a:gd name="adj" fmla="val 7000"/>
            </a:avLst>
          </a:prstGeom>
          <a:solidFill>
            <a:srgbClr val="F3EEF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Config-driven scraping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download job is defined via configuration, not custom code per source.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303520" cy="914400"/>
          </a:xfrm>
          <a:prstGeom prst="roundRect">
            <a:avLst>
              <a:gd name="adj" fmla="val 7000"/>
            </a:avLst>
          </a:prstGeom>
          <a:solidFill>
            <a:srgbClr val="F3EEF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retries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 and auto-retry are first-class, not bolted 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03520" cy="914400"/>
          </a:xfrm>
          <a:prstGeom prst="roundRect">
            <a:avLst>
              <a:gd name="adj" fmla="val 7000"/>
            </a:avLst>
          </a:prstGeom>
          <a:solidFill>
            <a:srgbClr val="F3EEF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NFR-aware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absorb the Govt. portal's downtime and change velocity.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integration to publish alerts to stakeholders.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87452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provider for stakeholder email delivery.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65760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Captcha resolver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third-party captcha solving on portal login.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3657600"/>
            <a:ext cx="25603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tracker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972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receipts, bounces, and delivery status tracking.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43059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pic>
        <p:nvPicPr>
          <p:cNvPr id="5" name="Image 0" descr="security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360179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6019" y="1691640"/>
            <a:ext cx="627703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encryption on all data in transit; encryption at rest with periodic key rotation.</a:t>
            </a:r>
            <a:endParaRPr lang="en-US" sz="13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credentials encrypted at storage — entered directly by the client, never visible to any person.</a:t>
            </a:r>
            <a:endParaRPr lang="en-US" sz="13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for critical data such as company iFMS credentials.</a:t>
            </a:r>
            <a:endParaRPr lang="en-US" sz="13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OAuth-based access to the Subsidex portal, tokens valid for 30 minutes to bound any leak.</a:t>
            </a:r>
            <a:endParaRPr lang="en-US" sz="1300" dirty="0"/>
          </a:p>
          <a:p>
            <a:pPr marL="228600" indent="-2286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VPC around the entire platform, with client-managed role-based access via an admin portal.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4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gets a separate schema — logical, not physical, isolation.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Platform-level data lives in one shared schema that never carries client-specific data.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tenants share the same underlying infrastructure, scaled horizontally or vertically as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2560320"/>
            <a:ext cx="6217920" cy="3074610"/>
          </a:xfrm>
          <a:prstGeom prst="roundRect">
            <a:avLst>
              <a:gd name="adj" fmla="val 1784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pic>
        <p:nvPicPr>
          <p:cNvPr id="6" name="Image 0" descr="multitena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651760"/>
            <a:ext cx="6035040" cy="28917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Archival, account lifecycle &amp; access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3EEF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Archival &amp; purging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Govt.-portal data persisted for a predefined period per data-set policy.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contract termination, client data is retained 90 days, then purged.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3EEFD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/ offboarding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6060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provisions a dedicated schema and admin accounts for the client.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 revokes all user access immediately; data persists 90 days before purge.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3EEFD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6060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create roles with varied access levels.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assigned per employee to control what each person can reach.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was designed to be worth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working capital pressure from a shorter subsidy claims cycle.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16002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spend less time on admin — stock acks and PoS liquidation drive themselves.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85292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critical steps for near-100% accuracy and consistency.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2852928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285292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consolidation from the Govt. portal for supply-chain and competitor visibility.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428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communication channel across every stakeholder in the value chain.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105656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2428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4105656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process and data management across previously disconnected systems.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58384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955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5358384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that used to take days, available on demand.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CREDENTIALS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revisions, four months, two reviewers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note wasn't written once — it was pressure-tested and revised as the design matured, each version reviewed by a peer engineer before it shipped.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08860" y="2606040"/>
            <a:ext cx="749808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4268" y="2441448"/>
            <a:ext cx="329184" cy="329184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7" name="Text 5"/>
          <p:cNvSpPr/>
          <p:nvPr/>
        </p:nvSpPr>
        <p:spPr>
          <a:xfrm>
            <a:off x="214426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3EE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1455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Mar 2020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draft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architecture — reviewed by Irshad Chohan.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3308" y="2441448"/>
            <a:ext cx="329184" cy="329184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589330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926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3EEF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31455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 2020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multi-tenancy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069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schema-level tenant isolation — reviewed by Onkar Pradhan.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42348" y="2441448"/>
            <a:ext cx="329184" cy="329184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964234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29260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3EEFD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v1.2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52560" y="314553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Jul 2020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35204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data security architecture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4069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encryption, OAuth token scoping, and VPC design — reviewed by Onkar Pradhan.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943600" cy="5943600"/>
          </a:xfrm>
          <a:prstGeom prst="ellipse">
            <a:avLst/>
          </a:prstGeom>
          <a:solidFill>
            <a:srgbClr val="F3EEF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206240" cy="4206240"/>
          </a:xfrm>
          <a:prstGeom prst="ellipse">
            <a:avLst/>
          </a:prstGeom>
          <a:solidFill>
            <a:srgbClr val="5B2FA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Dhruvi Chauhan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Analyst, </a:t>
            </a:r>
            <a:r>
              <a:rPr lang="en-US" sz="1300" dirty="0" err="1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Neebal</a:t>
            </a:r>
            <a:r>
              <a:rPr lang="en-US" sz="130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D8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SUBSIDEX  ·  PLATFORM ARCHITECTURE CASE STUDY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05695" y="6528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8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Microsoft Office PowerPoint</Application>
  <PresentationFormat>Widescreen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Dhruvi Chauhan</cp:lastModifiedBy>
  <cp:revision>1</cp:revision>
  <dcterms:created xsi:type="dcterms:W3CDTF">2026-07-14T07:20:45Z</dcterms:created>
  <dcterms:modified xsi:type="dcterms:W3CDTF">2026-07-14T07:28:59Z</dcterms:modified>
</cp:coreProperties>
</file>